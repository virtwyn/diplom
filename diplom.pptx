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9" r:id="rId3"/>
    <p:sldId id="304" r:id="rId4"/>
    <p:sldId id="258" r:id="rId5"/>
    <p:sldId id="260" r:id="rId6"/>
    <p:sldId id="269" r:id="rId7"/>
    <p:sldId id="305" r:id="rId8"/>
    <p:sldId id="306" r:id="rId9"/>
    <p:sldId id="307" r:id="rId10"/>
    <p:sldId id="272" r:id="rId11"/>
    <p:sldId id="292" r:id="rId12"/>
    <p:sldId id="308" r:id="rId13"/>
    <p:sldId id="296" r:id="rId14"/>
    <p:sldId id="273" r:id="rId15"/>
    <p:sldId id="287" r:id="rId16"/>
    <p:sldId id="288" r:id="rId17"/>
    <p:sldId id="300" r:id="rId18"/>
    <p:sldId id="295" r:id="rId19"/>
    <p:sldId id="303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55"/>
    <p:restoredTop sz="94669"/>
  </p:normalViewPr>
  <p:slideViewPr>
    <p:cSldViewPr snapToGrid="0">
      <p:cViewPr varScale="1">
        <p:scale>
          <a:sx n="67" d="100"/>
          <a:sy n="67" d="100"/>
        </p:scale>
        <p:origin x="8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E2E09-1D91-B340-81EB-6FD2B7104F2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CBECE-D179-2B41-8F09-1E2845E846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29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499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089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45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913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757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85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757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370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041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153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358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129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CBECE-D179-2B41-8F09-1E2845E8468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736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587DA-03C1-4E8D-22FF-330FB782D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307AD6-8E72-D8C1-FF1E-0F191842F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78FACE-FA56-06D4-0E4C-F332F9374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2FFD0C-FD1F-17CD-E348-56F8E99C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18B535-836D-524B-28AE-A3526EFD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80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5C596-46E3-B048-9776-275734404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538EC-A83F-575E-B679-EF8A3D87A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132432-B59B-25F3-0C9B-12B79BB1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F83B59-427C-E049-B9B9-1DAEEA56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E85976-CF9C-DAEA-BB34-DB6A1DB6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09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D0569-FC3F-2705-6ACF-26F20258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460ED0-C80B-4158-BAF5-76BD6B66B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2D47DF-EB0A-E78E-7D67-E5BC55C3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5EF70B-E77D-5745-3728-019B8153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E9E927-5752-0506-CCA0-CD55494A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13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99E18-3BD1-1ADA-7BA8-EBECF7020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DFFE7E-8A46-1328-1C2C-154BEC734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00D6D8-59F6-78CD-2008-AF5F15285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90C523-5045-380A-56E5-E45FAEA9F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9A6E1D-8B7A-3351-DFF0-7862978B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B9B0AC-F511-43A4-00D1-38BFBBDC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2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FCBC9E-4023-799E-B019-C471EE81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444612-03F1-9AF0-AB09-83DB4701E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491938-502F-65B6-0BC0-F3F22F2ED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A4C994-6F93-F50F-5FCE-FB079860C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682A9C-430F-3EB7-BD92-82CE20838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70CD6F-5937-8BBA-400A-AAD8A4F0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57E48A3-7F7A-A000-6D45-09CED04F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DFB994-E912-8A61-E139-8E342D78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9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8DB3D-606B-7E9B-5F36-00882FFA7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7E657A-34E0-70BB-9FC0-419302A7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D1130A-1266-13BB-95BE-09DC0EF3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69C817-BBFC-7641-8092-74CBB97C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04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83DCF6B-ED83-D1AC-7D9D-9EBDF13A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F6B3A9-1A80-C2DE-CFAF-081D6906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2706F1-42E4-7387-B1BC-44936804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295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AFBBC-7E10-3563-5A83-2CBAD9F6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C3A1D7-8F65-57B2-4F62-2BF05AD5B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E7D078-5E18-20C7-7B41-A32D70D1A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A2BEB8-09AD-832A-94C9-5604B6EB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1FF589-6199-68CE-2C30-BD16896F6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EBC70F-8DF9-E028-D8C6-75193739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7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E61F8-4BFD-5C99-D780-691AFA59A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E843951-2222-889D-D779-2F5024F48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1B67D7-4307-29CB-BBCF-425BC9E72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0DCC60-EA2C-9275-0EF2-DBB8A382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54E159-FF65-E706-A58A-881889907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48FA29-0B17-B4EF-DFB1-8691AECD6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06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3A1C3-D9D3-8E37-762D-5DD6ED8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AE9936-46DA-281D-3C20-101386536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4DEEA6-8065-FD6D-689D-427695A9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CA20DF-765A-D1AD-772C-65E324C8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748590-A5DE-5E03-3CC8-5E7AD5C7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94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39644A9-EFDD-FBE4-DCAF-74BCF0C72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2735C7-0218-7955-8359-DA99847F3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FA866E-216B-1EB6-AACB-0105BE8B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683E97-6897-AEA6-82DC-36652AF1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13667F-6419-EEC2-BB4B-91ACFA87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19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75995-7C0E-516A-308F-3EDADC7D9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8DD4A3-23C5-B992-67EA-8CB5BC08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3927C9-0CE7-6C84-18DE-253DC94EF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C7A11-7ABC-7740-9E92-992537D6D655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258B29-D7C5-BC57-343D-D0C92ADEC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E7E38-794A-6D7B-892C-9CA05CBA6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FA8A7-DCF0-9740-A6FB-9A3EE7562A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23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10407F-8839-EBB9-8A6C-656CC49D4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155" y="107620"/>
            <a:ext cx="681690" cy="8957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0B18D2-18A5-D238-490A-80F9A54A16EC}"/>
              </a:ext>
            </a:extLst>
          </p:cNvPr>
          <p:cNvSpPr txBox="1"/>
          <p:nvPr/>
        </p:nvSpPr>
        <p:spPr>
          <a:xfrm>
            <a:off x="2320738" y="1265858"/>
            <a:ext cx="75505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ГОСУДАРСТВЕННОЕ БЮДЖЕТНОЕ ПРОФЕССИОНАЛЬНОЕ ОБРАЗОВАТЕЛЬНОЕ УЧРЕЖДЕНИЕ РОСТОВСКОЙ ОБЛАСТИ «РОСТОВСКИ-НА-ДОНУ КОЛЛЕДЖ СВЯЗИ И ИНФОРМАТИКИ»</a:t>
            </a:r>
          </a:p>
          <a:p>
            <a:pPr algn="ctr"/>
            <a:endParaRPr lang="ru-RU" dirty="0"/>
          </a:p>
          <a:p>
            <a:pPr algn="ctr"/>
            <a:r>
              <a:rPr lang="ru-RU" sz="1600" dirty="0"/>
              <a:t>Специальность: «Программирование в компьютерных системах»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F8A17-0484-E3CE-D38F-3D42EC13599F}"/>
              </a:ext>
            </a:extLst>
          </p:cNvPr>
          <p:cNvSpPr txBox="1"/>
          <p:nvPr/>
        </p:nvSpPr>
        <p:spPr>
          <a:xfrm>
            <a:off x="1082488" y="2772629"/>
            <a:ext cx="10027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>
                    <a:lumMod val="50000"/>
                  </a:schemeClr>
                </a:solidFill>
              </a:rPr>
              <a:t>ДИПЛОМНЫЙ ПРОЕКТ НА ТЕМУ: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336CF-C043-10A7-E582-B05874446441}"/>
              </a:ext>
            </a:extLst>
          </p:cNvPr>
          <p:cNvSpPr txBox="1"/>
          <p:nvPr/>
        </p:nvSpPr>
        <p:spPr>
          <a:xfrm>
            <a:off x="1082488" y="3233674"/>
            <a:ext cx="10027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effectLst/>
                <a:ea typeface="Calibri" panose="020F0502020204030204" pitchFamily="34" charset="0"/>
              </a:rPr>
              <a:t>Разработка 2D игры на ПК жанра </a:t>
            </a:r>
            <a:r>
              <a:rPr lang="ru-RU" sz="4000" dirty="0" err="1">
                <a:effectLst/>
                <a:ea typeface="Calibri" panose="020F0502020204030204" pitchFamily="34" charset="0"/>
              </a:rPr>
              <a:t>платформер-метроидвания</a:t>
            </a:r>
            <a:r>
              <a:rPr lang="ru-RU" sz="4000" dirty="0">
                <a:effectLst/>
                <a:ea typeface="Calibri" panose="020F0502020204030204" pitchFamily="34" charset="0"/>
              </a:rPr>
              <a:t> в игровом движке </a:t>
            </a:r>
            <a:r>
              <a:rPr lang="ru-RU" sz="4000" dirty="0" err="1">
                <a:effectLst/>
                <a:ea typeface="Calibri" panose="020F0502020204030204" pitchFamily="34" charset="0"/>
              </a:rPr>
              <a:t>Unity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FFC38-46DB-5B85-0340-CC8070716E91}"/>
              </a:ext>
            </a:extLst>
          </p:cNvPr>
          <p:cNvSpPr txBox="1"/>
          <p:nvPr/>
        </p:nvSpPr>
        <p:spPr>
          <a:xfrm>
            <a:off x="161366" y="6001089"/>
            <a:ext cx="27566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Дипломный руководитель</a:t>
            </a:r>
            <a:br>
              <a:rPr lang="ru-RU" sz="1600" dirty="0"/>
            </a:br>
            <a:r>
              <a:rPr lang="ru-RU" dirty="0" err="1">
                <a:effectLst/>
                <a:ea typeface="Calibri" panose="020F0502020204030204" pitchFamily="34" charset="0"/>
              </a:rPr>
              <a:t>Сулавко</a:t>
            </a:r>
            <a:r>
              <a:rPr lang="ru-RU" dirty="0">
                <a:effectLst/>
                <a:ea typeface="Calibri" panose="020F0502020204030204" pitchFamily="34" charset="0"/>
              </a:rPr>
              <a:t> С.Н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3FEFC-9778-5409-75CE-20A4E301646F}"/>
              </a:ext>
            </a:extLst>
          </p:cNvPr>
          <p:cNvSpPr txBox="1"/>
          <p:nvPr/>
        </p:nvSpPr>
        <p:spPr>
          <a:xfrm>
            <a:off x="8346139" y="5754867"/>
            <a:ext cx="3684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/>
              <a:t>Выполнил</a:t>
            </a:r>
            <a:br>
              <a:rPr lang="ru-RU" sz="1600" dirty="0"/>
            </a:br>
            <a:r>
              <a:rPr lang="ru-RU" sz="1600" dirty="0"/>
              <a:t>студент группы ИС-46</a:t>
            </a:r>
            <a:br>
              <a:rPr lang="ru-RU" sz="1600" dirty="0"/>
            </a:br>
            <a:r>
              <a:rPr lang="ru-RU" sz="1600" dirty="0"/>
              <a:t>Щербаков Виталий Олегович</a:t>
            </a:r>
          </a:p>
        </p:txBody>
      </p:sp>
    </p:spTree>
    <p:extLst>
      <p:ext uri="{BB962C8B-B14F-4D97-AF65-F5344CB8AC3E}">
        <p14:creationId xmlns:p14="http://schemas.microsoft.com/office/powerpoint/2010/main" val="297426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1210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Цели</a:t>
            </a:r>
            <a:endParaRPr lang="ru-RU" sz="3600" b="1" dirty="0">
              <a:solidFill>
                <a:srgbClr val="0070EE"/>
              </a:solidFill>
              <a:latin typeface="Montserra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FD69F-6391-3628-1835-3997DC05F248}"/>
              </a:ext>
            </a:extLst>
          </p:cNvPr>
          <p:cNvSpPr txBox="1"/>
          <p:nvPr/>
        </p:nvSpPr>
        <p:spPr>
          <a:xfrm>
            <a:off x="295835" y="1156447"/>
            <a:ext cx="116048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Целью дипломной работы является разработка 2</a:t>
            </a:r>
            <a:r>
              <a:rPr lang="en-US" sz="2400" dirty="0"/>
              <a:t>D</a:t>
            </a:r>
            <a:r>
              <a:rPr lang="ru-RU" sz="2400" dirty="0"/>
              <a:t> игры</a:t>
            </a:r>
            <a:r>
              <a:rPr lang="en-US" sz="2400" dirty="0"/>
              <a:t> c </a:t>
            </a:r>
            <a:r>
              <a:rPr lang="ru-RU" sz="2400" dirty="0"/>
              <a:t>жанром </a:t>
            </a:r>
            <a:r>
              <a:rPr lang="ru-RU" sz="2400" dirty="0" err="1"/>
              <a:t>платформера</a:t>
            </a:r>
            <a:r>
              <a:rPr lang="ru-RU" sz="2400" dirty="0"/>
              <a:t>, нацеленной на: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i="0" dirty="0">
                <a:effectLst/>
              </a:rPr>
              <a:t>Развлечение и предоставление средства для приятного время препровождения</a:t>
            </a:r>
            <a:r>
              <a:rPr lang="ru-RU" sz="2400" dirty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i="0" dirty="0">
                <a:effectLst/>
              </a:rPr>
              <a:t>Развитие технических навыков</a:t>
            </a:r>
            <a:r>
              <a:rPr lang="ru-RU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35794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28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Сбор требований</a:t>
            </a:r>
            <a:endParaRPr lang="ru-RU" sz="3600" b="1" dirty="0">
              <a:solidFill>
                <a:srgbClr val="0070EE"/>
              </a:solidFill>
              <a:latin typeface="Montserrat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CD284C-5FD7-4EAB-8AD3-205D9FA88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35" y="1609471"/>
            <a:ext cx="5655901" cy="36390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152BA4-3578-4F28-85AF-EF815AC4A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09472"/>
            <a:ext cx="5807708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5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1587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Задачи</a:t>
            </a:r>
            <a:endParaRPr lang="ru-RU" sz="3600" b="1" dirty="0">
              <a:solidFill>
                <a:srgbClr val="0070EE"/>
              </a:solidFill>
              <a:latin typeface="Montserra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FD69F-6391-3628-1835-3997DC05F248}"/>
              </a:ext>
            </a:extLst>
          </p:cNvPr>
          <p:cNvSpPr txBox="1"/>
          <p:nvPr/>
        </p:nvSpPr>
        <p:spPr>
          <a:xfrm>
            <a:off x="295835" y="1156447"/>
            <a:ext cx="116048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достижения целей определены следующие задачи: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Анализ и формирование требований к программному продукту;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i="0" dirty="0">
                <a:effectLst/>
              </a:rPr>
              <a:t>Проектирование визуальной составляющей</a:t>
            </a:r>
            <a:r>
              <a:rPr lang="ru-RU" sz="2400" dirty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i="0" dirty="0">
                <a:effectLst/>
              </a:rPr>
              <a:t>Разработка игровой механики</a:t>
            </a:r>
            <a:r>
              <a:rPr lang="en-US" sz="2400" i="0" dirty="0">
                <a:effectLst/>
              </a:rPr>
              <a:t>;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Тестирование программного продукта</a:t>
            </a:r>
            <a:r>
              <a:rPr lang="en-US" sz="2400" dirty="0"/>
              <a:t> </a:t>
            </a:r>
            <a:r>
              <a:rPr lang="ru-RU" sz="2400" dirty="0"/>
              <a:t>и</a:t>
            </a:r>
            <a:r>
              <a:rPr lang="en-US" sz="2400" dirty="0"/>
              <a:t> </a:t>
            </a:r>
            <a:r>
              <a:rPr lang="ru-RU" sz="2400" dirty="0"/>
              <a:t>оптимизация продукта;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Выпуск программного продукта на площадки</a:t>
            </a:r>
            <a:r>
              <a:rPr lang="en-US" sz="2400" dirty="0"/>
              <a:t>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5968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1656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70EE"/>
                </a:solidFill>
                <a:latin typeface="Montserrat" pitchFamily="2" charset="0"/>
              </a:rPr>
              <a:t>MindMap</a:t>
            </a:r>
            <a:endParaRPr lang="ru-RU" sz="2800" b="1" dirty="0">
              <a:solidFill>
                <a:srgbClr val="0070EE"/>
              </a:solidFill>
              <a:latin typeface="Montserrat" pitchFamily="2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8C3B72-4E72-499F-A153-4FF1F3D8E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75" y="902551"/>
            <a:ext cx="7302449" cy="578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9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6308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Макет программного продукта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87CC3-3A89-DAD9-BF7B-F36305CF9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35" y="1981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E15B7C-6B96-48FC-BB39-43E346B13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FB8767-9804-47C8-A2F5-33388B336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167" y="1637416"/>
            <a:ext cx="7133665" cy="441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2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6308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Макет программного продукта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87CC3-3A89-DAD9-BF7B-F36305CF9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35" y="1981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E15B7C-6B96-48FC-BB39-43E346B13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8ADF14-4DA4-4CC3-918B-4BA636177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018" y="1482022"/>
            <a:ext cx="9011908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6308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Макет программного продукта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87CC3-3A89-DAD9-BF7B-F36305CF9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35" y="1981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E15B7C-6B96-48FC-BB39-43E346B13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E398CA-5BEA-4778-87C2-B5DB67480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944" y="1433234"/>
            <a:ext cx="4020111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3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6308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Макет программного продукта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87CC3-3A89-DAD9-BF7B-F36305CF9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35" y="1981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E15B7C-6B96-48FC-BB39-43E346B13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AF9AC9-96C1-46D9-BEE6-F55036720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61" y="2133705"/>
            <a:ext cx="9507277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80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2665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Архитектура ПП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7D5737-EC53-400E-BD7B-BDE441E38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841" y="778037"/>
            <a:ext cx="8872317" cy="530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81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3162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Структура БД (</a:t>
            </a:r>
            <a:r>
              <a:rPr lang="en-US" sz="2800" b="1" dirty="0">
                <a:solidFill>
                  <a:srgbClr val="0070EE"/>
                </a:solidFill>
                <a:latin typeface="Montserrat" pitchFamily="2" charset="0"/>
              </a:rPr>
              <a:t>ERD)</a:t>
            </a:r>
            <a:endParaRPr lang="ru-RU" sz="2800" b="1" dirty="0">
              <a:solidFill>
                <a:srgbClr val="0070EE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173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4408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Средства разработки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42FDE2D8-3004-4441-490A-56B451C1D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98" y="1052392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49D291F-8A6A-419B-B2FF-E990FF6D6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49" y="994698"/>
            <a:ext cx="1195387" cy="1195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EEA785E-3EF2-4B49-A448-CB1969D84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187" y="994698"/>
            <a:ext cx="1696376" cy="1272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2493EBC-2C52-4B23-BDD8-68DBA2259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745" y="1011049"/>
            <a:ext cx="1195387" cy="128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95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365235"/>
            <a:ext cx="3961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Календарный план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E9B9FE-BAD9-446D-9DDF-1903C82A8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66" y="2290603"/>
            <a:ext cx="10879068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33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4136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Доска задач </a:t>
            </a:r>
            <a:r>
              <a:rPr lang="en-US" sz="2800" b="1" dirty="0" err="1">
                <a:solidFill>
                  <a:srgbClr val="0070EE"/>
                </a:solidFill>
                <a:latin typeface="Montserrat" pitchFamily="2" charset="0"/>
              </a:rPr>
              <a:t>YouGile</a:t>
            </a:r>
            <a:endParaRPr lang="ru-RU" sz="2800" b="1" dirty="0">
              <a:solidFill>
                <a:srgbClr val="0070EE"/>
              </a:solidFill>
              <a:latin typeface="Montserrat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14DA6CB-4242-08A0-7F9F-96696A7B5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338" y="933563"/>
            <a:ext cx="7815778" cy="569583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ACE295-B091-4DA1-84B5-E291A48BB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07" y="299601"/>
            <a:ext cx="11717385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61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2387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Баг-репорт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9B55D9-32F6-4214-BB85-EEAFD106A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32" y="1100666"/>
            <a:ext cx="7968643" cy="23766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1C22AB-A4EB-4FB4-9D5F-5A8AF1AFF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904" y="3826125"/>
            <a:ext cx="8109269" cy="272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98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2425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Тест-кейсы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178E085-4123-4D37-934F-0BBEA5F40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5" y="1328444"/>
            <a:ext cx="5973009" cy="420111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9CB425-9439-4CA3-AFAA-1B094E818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512" y="1518970"/>
            <a:ext cx="5679125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93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6497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Информационная безопасность</a:t>
            </a:r>
            <a:endParaRPr lang="ru-RU" sz="3600" b="1" dirty="0">
              <a:solidFill>
                <a:srgbClr val="0070EE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066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768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Экономическое обоснование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486838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C2DBCA-3757-4274-E88D-1EB04E3D5E52}"/>
              </a:ext>
            </a:extLst>
          </p:cNvPr>
          <p:cNvSpPr txBox="1"/>
          <p:nvPr/>
        </p:nvSpPr>
        <p:spPr>
          <a:xfrm>
            <a:off x="295835" y="228600"/>
            <a:ext cx="4730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0070EE"/>
                </a:solidFill>
                <a:latin typeface="Montserrat" pitchFamily="2" charset="0"/>
              </a:rPr>
              <a:t>Программный продукт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3D7FDD-37D2-4EC3-B574-05F7F32B1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25" y="771525"/>
            <a:ext cx="531495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052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171</Words>
  <Application>Microsoft Office PowerPoint</Application>
  <PresentationFormat>Широкоэкранный</PresentationFormat>
  <Paragraphs>47</Paragraphs>
  <Slides>19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Лера Михайленко</dc:creator>
  <cp:lastModifiedBy>Виталий Щербаков</cp:lastModifiedBy>
  <cp:revision>35</cp:revision>
  <dcterms:created xsi:type="dcterms:W3CDTF">2024-04-03T22:26:43Z</dcterms:created>
  <dcterms:modified xsi:type="dcterms:W3CDTF">2026-04-10T01:14:51Z</dcterms:modified>
</cp:coreProperties>
</file>